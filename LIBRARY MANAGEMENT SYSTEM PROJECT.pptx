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3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tableStyles" Target="tableStyle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5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6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4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7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6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3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4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4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4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5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5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1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2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8"/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baseline="0" cap="all" sz="11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algn="r" indent="0" marL="0">
              <a:lnSpc>
                <a:spcPct val="100000"/>
              </a:lnSpc>
              <a:buNone/>
              <a:defRPr sz="20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15A2B-B9B1-42A7-81B5-5CAD5CFA3D6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7" name="Title 1"/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</p:spPr>
        <p:txBody>
          <a:bodyPr anchor="b" bIns="45720" lIns="91440" rIns="91440" rtlCol="0" tIns="45720" vert="horz">
            <a:normAutofit/>
          </a:bodyPr>
          <a:p>
            <a:pPr algn="r"/>
            <a:r>
              <a:rPr sz="5000" kern="1200" lang="en-US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LIBRARY MANAGEMENT SYSTEM MYSQL PROJECT</a:t>
            </a:r>
          </a:p>
        </p:txBody>
      </p:sp>
      <p:sp>
        <p:nvSpPr>
          <p:cNvPr id="1048588" name="Subtitle 2"/>
          <p:cNvSpPr>
            <a:spLocks noGrp="1"/>
          </p:cNvSpPr>
          <p:nvPr>
            <p:ph type="subTitle" idx="1"/>
          </p:nvPr>
        </p:nvSpPr>
        <p:spPr>
          <a:xfrm>
            <a:off x="6726578" y="4373955"/>
            <a:ext cx="4203323" cy="1143291"/>
          </a:xfrm>
        </p:spPr>
        <p:txBody>
          <a:bodyPr bIns="45720" lIns="91440" rIns="91440" rtlCol="0" tIns="45720" vert="horz">
            <a:normAutofit/>
          </a:bodyPr>
          <a:p>
            <a:pPr>
              <a:lnSpc>
                <a:spcPct val="90000"/>
              </a:lnSpc>
            </a:pPr>
            <a:r>
              <a:rPr kern="1200" lang="en-US">
                <a:solidFill>
                  <a:schemeClr val="bg1"/>
                </a:solidFill>
                <a:latin typeface="+mn-lt"/>
                <a:ea typeface="+mn-ea"/>
                <a:cs typeface="+mn-cs"/>
              </a:rPr>
              <a:t>-Made by Kasi Yadav</a:t>
            </a:r>
          </a:p>
        </p:txBody>
      </p:sp>
      <p:grpSp>
        <p:nvGrpSpPr>
          <p:cNvPr id="26" name="Group 11"/>
          <p:cNvGrpSpPr>
            <a:grpSpLocks noMove="1" noResize="1" noRot="1" noGrp="1" noChangeAspect="1"/>
          </p:cNvGrpSpPr>
          <p:nvPr/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048589" name="Rectangle 12"/>
            <p:cNvSpPr/>
            <p:nvPr/>
          </p:nvSpPr>
          <p:spPr>
            <a:xfrm>
              <a:off x="1674895" y="1345036"/>
              <a:ext cx="5428610" cy="4210939"/>
            </a:xfrm>
            <a:prstGeom prst="rect"/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  <p:sp>
          <p:nvSpPr>
            <p:cNvPr id="1048590" name="Rectangle 37"/>
            <p:cNvSpPr/>
            <p:nvPr/>
          </p:nvSpPr>
          <p:spPr>
            <a:xfrm>
              <a:off x="1674895" y="1345036"/>
              <a:ext cx="5428610" cy="4210939"/>
            </a:xfrm>
            <a:prstGeom prst="rect"/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/>
            </a:p>
          </p:txBody>
        </p:sp>
      </p:grpSp>
      <p:sp>
        <p:nvSpPr>
          <p:cNvPr id="1048591" name="Freeform: Shap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 rtlCol="0" wrap="square">
            <a:noAutofit/>
          </a:bodyPr>
          <a:p>
            <a:endParaRPr lang="en-US"/>
          </a:p>
        </p:txBody>
      </p:sp>
      <p:sp>
        <p:nvSpPr>
          <p:cNvPr id="1048592" name="Freeform: Shape 4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 rtlCol="0" wrap="square">
            <a:noAutofit/>
          </a:bodyPr>
          <a:p>
            <a:endParaRPr lang="en-US"/>
          </a:p>
        </p:txBody>
      </p:sp>
      <p:sp>
        <p:nvSpPr>
          <p:cNvPr id="1048593" name="Rectangle 4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369494" y="1220741"/>
            <a:ext cx="4833901" cy="4258176"/>
          </a:xfrm>
          <a:prstGeom prst="rect"/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4" name="Rectangle 2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369494" y="1220741"/>
            <a:ext cx="4833901" cy="4258176"/>
          </a:xfrm>
          <a:prstGeom prst="rect"/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5" name="Oval 2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177284" y="4357092"/>
            <a:ext cx="319941" cy="319941"/>
          </a:xfrm>
          <a:prstGeom prst="ellipse"/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/>
          </a:p>
        </p:txBody>
      </p:sp>
      <p:sp>
        <p:nvSpPr>
          <p:cNvPr id="1048596" name="Oval 2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177284" y="4357092"/>
            <a:ext cx="319941" cy="319941"/>
          </a:xfrm>
          <a:prstGeom prst="ellipse"/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/>
          </a:p>
        </p:txBody>
      </p:sp>
      <p:pic>
        <p:nvPicPr>
          <p:cNvPr id="2097152" name="Video 4" descr="Floating Numbers And Letters On Top Of A Book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xmlns:r="http://schemas.openxmlformats.org/officeDocument/2006/relationships" r:embed="rId3"/>
          <a:srcRect r="1" b="285"/>
          <a:stretch>
            <a:fillRect/>
          </a:stretch>
        </p:blipFill>
        <p:spPr>
          <a:xfrm>
            <a:off x="1700022" y="2179549"/>
            <a:ext cx="4172845" cy="2340559"/>
          </a:xfrm>
          <a:prstGeom prst="rect"/>
          <a:ln w="28575">
            <a:noFill/>
          </a:ln>
        </p:spPr>
      </p:pic>
      <p:sp>
        <p:nvSpPr>
          <p:cNvPr id="1048597" name="Graphic 2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8E5D0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48598" name="Graphic 2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8E5D0F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7" name="Graphic 185"/>
          <p:cNvGrpSpPr>
            <a:grpSpLocks noMove="1" noResize="1" noRot="1" noGrp="1" noChangeAspect="1"/>
          </p:cNvGrpSpPr>
          <p:nvPr/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048599" name="Freeform: Shape 32"/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lang="en-US"/>
            </a:p>
          </p:txBody>
        </p:sp>
        <p:sp>
          <p:nvSpPr>
            <p:cNvPr id="1048600" name="Freeform: Shape 33"/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lang="en-US"/>
            </a:p>
          </p:txBody>
        </p:sp>
        <p:sp>
          <p:nvSpPr>
            <p:cNvPr id="1048601" name="Freeform: Shape 34"/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lang="en-US"/>
            </a:p>
          </p:txBody>
        </p:sp>
        <p:sp>
          <p:nvSpPr>
            <p:cNvPr id="1048602" name="Freeform: Shape 35"/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lang="en-US"/>
            </a:p>
          </p:txBody>
        </p:sp>
        <p:sp>
          <p:nvSpPr>
            <p:cNvPr id="1048603" name="Freeform: Shape 36"/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 rtlCol="0"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mediacall" presetID="1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dur="9000" fill="hold" id="6"/>
                                        <p:tgtEl>
                                          <p:spTgt spid="20971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evtFilter="cancelBubble" fill="hold" id="7" nodeType="interactiveSeq" restart="whenNotActive">
                <p:stCondLst>
                  <p:cond evt="onClick" delay="0">
                    <p:tgtEl>
                      <p:spTgt spid="2097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fill="hold" id="8">
                      <p:stCondLst>
                        <p:cond delay="0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id="10" nodeType="clickEffect" presetClass="mediacall" presetID="2" presetSubtype="0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dur="1" fill="hold" id="11"/>
                                        <p:tgtEl>
                                          <p:spTgt spid="20971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152"/>
                  </p:tgtEl>
                </p:cond>
              </p:nextCondLst>
            </p:seq>
            <p:video>
              <p:cMediaNode mute="1">
                <p:cTn display="0" fill="hold" id="12" repeatCount="indefinite">
                  <p:stCondLst>
                    <p:cond delay="indefinite"/>
                  </p:stCondLst>
                </p:cTn>
                <p:tgtEl>
                  <p:spTgt spid="209715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/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 bIns="45720" lIns="91440" rIns="91440" rtlCol="0" tIns="45720" vert="horz">
            <a:normAutofit/>
          </a:bodyPr>
          <a:p>
            <a:pPr algn="ctr"/>
            <a:r>
              <a:rPr sz="2600" kern="1200" lang="en-US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                     1.ER DIAGRAM</a:t>
            </a:r>
          </a:p>
        </p:txBody>
      </p:sp>
      <p:pic>
        <p:nvPicPr>
          <p:cNvPr id="2097153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038600" y="1028244"/>
            <a:ext cx="7188199" cy="4798122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               2. Setup of Database</a:t>
            </a:r>
          </a:p>
        </p:txBody>
      </p:sp>
      <p:pic>
        <p:nvPicPr>
          <p:cNvPr id="2097154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29917" y="2145217"/>
            <a:ext cx="7968111" cy="1325563"/>
          </a:xfrm>
          <a:prstGeom prst="rect"/>
        </p:spPr>
      </p:pic>
      <p:pic>
        <p:nvPicPr>
          <p:cNvPr id="2097155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6101" y="3464606"/>
            <a:ext cx="11979797" cy="460703"/>
          </a:xfrm>
          <a:prstGeom prst="rect"/>
        </p:spPr>
      </p:pic>
      <p:pic>
        <p:nvPicPr>
          <p:cNvPr id="2097156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70727" y="4155942"/>
            <a:ext cx="11979797" cy="276138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3. CREATE  LMS_MEMBERS TABLE</a:t>
            </a:r>
          </a:p>
        </p:txBody>
      </p:sp>
      <p:pic>
        <p:nvPicPr>
          <p:cNvPr id="2097157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92730" y="1533363"/>
            <a:ext cx="5011837" cy="2494042"/>
          </a:xfrm>
          <a:prstGeom prst="rect"/>
        </p:spPr>
      </p:pic>
      <p:pic>
        <p:nvPicPr>
          <p:cNvPr id="2097158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66218" y="4258875"/>
            <a:ext cx="11925782" cy="190460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             4. CREATE LMS_FINE_DETAILS</a:t>
            </a:r>
          </a:p>
        </p:txBody>
      </p:sp>
      <p:pic>
        <p:nvPicPr>
          <p:cNvPr id="2097159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284634" y="1846529"/>
            <a:ext cx="7622732" cy="1325563"/>
          </a:xfrm>
          <a:prstGeom prst="rect"/>
        </p:spPr>
      </p:pic>
      <p:pic>
        <p:nvPicPr>
          <p:cNvPr id="2097160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0" y="3234168"/>
            <a:ext cx="12192000" cy="389664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1261640" y="368927"/>
            <a:ext cx="9213448" cy="1204551"/>
          </a:xfrm>
        </p:spPr>
        <p:txBody>
          <a:bodyPr/>
          <a:p>
            <a:r>
              <a:rPr dirty="0" lang="en-IN"/>
              <a:t>5.CREATE LMS_SUPPLIERS_DETAILS </a:t>
            </a:r>
          </a:p>
        </p:txBody>
      </p:sp>
      <p:pic>
        <p:nvPicPr>
          <p:cNvPr id="2097161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124509" y="1573478"/>
            <a:ext cx="6179889" cy="2454512"/>
          </a:xfrm>
          <a:prstGeom prst="rect"/>
        </p:spPr>
      </p:pic>
      <p:pic>
        <p:nvPicPr>
          <p:cNvPr id="2097162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0" y="4176201"/>
            <a:ext cx="12192000" cy="172351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8200" y="68969"/>
            <a:ext cx="10515600" cy="1325563"/>
          </a:xfrm>
        </p:spPr>
        <p:txBody>
          <a:bodyPr/>
          <a:p>
            <a:r>
              <a:rPr dirty="0" lang="en-IN"/>
              <a:t>       6.CREATE LMS_BOOK DETAILS</a:t>
            </a:r>
          </a:p>
        </p:txBody>
      </p:sp>
      <p:pic>
        <p:nvPicPr>
          <p:cNvPr id="2097163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18467" y="1394532"/>
            <a:ext cx="5372566" cy="3292125"/>
          </a:xfrm>
          <a:prstGeom prst="rect"/>
        </p:spPr>
      </p:pic>
      <p:pic>
        <p:nvPicPr>
          <p:cNvPr id="2097164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0" y="4869041"/>
            <a:ext cx="12192000" cy="198783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1185441" y="281138"/>
            <a:ext cx="10515600" cy="1325563"/>
          </a:xfrm>
        </p:spPr>
        <p:txBody>
          <a:bodyPr/>
          <a:p>
            <a:r>
              <a:rPr dirty="0" lang="en-IN"/>
              <a:t>7.CREATE LMS_BOOK_ISSUE</a:t>
            </a:r>
          </a:p>
        </p:txBody>
      </p:sp>
      <p:pic>
        <p:nvPicPr>
          <p:cNvPr id="2097165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32227" y="1347729"/>
            <a:ext cx="3429297" cy="3825572"/>
          </a:xfrm>
          <a:prstGeom prst="rect"/>
        </p:spPr>
      </p:pic>
      <p:pic>
        <p:nvPicPr>
          <p:cNvPr id="209716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592119" y="5403582"/>
            <a:ext cx="10074373" cy="256438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838200" y="242546"/>
            <a:ext cx="10515600" cy="1325563"/>
          </a:xfrm>
        </p:spPr>
        <p:txBody>
          <a:bodyPr/>
          <a:p>
            <a:r>
              <a:rPr dirty="0" lang="en-IN"/>
              <a:t>                8.SHOW ALL TABLES</a:t>
            </a:r>
          </a:p>
        </p:txBody>
      </p:sp>
      <p:pic>
        <p:nvPicPr>
          <p:cNvPr id="2097167" name="Content Placeholder 8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19514" y="1568109"/>
            <a:ext cx="6832817" cy="751612"/>
          </a:xfrm>
          <a:prstGeom prst="rect"/>
        </p:spPr>
      </p:pic>
      <p:pic>
        <p:nvPicPr>
          <p:cNvPr id="2097168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678511" y="2416118"/>
            <a:ext cx="4590390" cy="3661544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9.INSERTION DATA INTO LMS_MEMBERS</a:t>
            </a:r>
          </a:p>
        </p:txBody>
      </p:sp>
      <p:pic>
        <p:nvPicPr>
          <p:cNvPr id="2097169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036465" y="1825625"/>
            <a:ext cx="6119069" cy="4351338"/>
          </a:xfrm>
          <a:prstGeom prst="rect"/>
        </p:spPr>
      </p:pic>
      <p:pic>
        <p:nvPicPr>
          <p:cNvPr id="2097170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462637" y="6492875"/>
            <a:ext cx="9266723" cy="152413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1324337" y="214654"/>
            <a:ext cx="10515600" cy="1325563"/>
          </a:xfrm>
        </p:spPr>
        <p:txBody>
          <a:bodyPr/>
          <a:p>
            <a:r>
              <a:rPr dirty="0" lang="en-IN"/>
              <a:t>10.INSERTION DATA INTO LMS_FINE_DETAILS</a:t>
            </a:r>
          </a:p>
        </p:txBody>
      </p:sp>
      <p:pic>
        <p:nvPicPr>
          <p:cNvPr id="2097171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98609" y="1540217"/>
            <a:ext cx="2491956" cy="4267570"/>
          </a:xfrm>
          <a:prstGeom prst="rect"/>
        </p:spPr>
      </p:pic>
      <p:pic>
        <p:nvPicPr>
          <p:cNvPr id="2097172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555523" y="6011735"/>
            <a:ext cx="9312447" cy="251482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583557" y="87332"/>
            <a:ext cx="10515600" cy="1325563"/>
          </a:xfrm>
        </p:spPr>
        <p:txBody>
          <a:bodyPr/>
          <a:p>
            <a:r>
              <a:rPr dirty="0" lang="en-IN"/>
              <a:t> 11.INSERTION DATA INTO        LMS_SUPPLIERS_DETAILS</a:t>
            </a:r>
          </a:p>
        </p:txBody>
      </p:sp>
      <p:pic>
        <p:nvPicPr>
          <p:cNvPr id="2097173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834366" y="1574941"/>
            <a:ext cx="6013982" cy="4351338"/>
          </a:xfrm>
          <a:prstGeom prst="rect"/>
        </p:spPr>
      </p:pic>
      <p:pic>
        <p:nvPicPr>
          <p:cNvPr id="2097174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405360" y="6088325"/>
            <a:ext cx="9121930" cy="228620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12. INSERTION INTO LMS_BOOK_DETAILS</a:t>
            </a:r>
          </a:p>
        </p:txBody>
      </p:sp>
      <p:pic>
        <p:nvPicPr>
          <p:cNvPr id="2097176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44034" y="1690688"/>
            <a:ext cx="2377646" cy="2766300"/>
          </a:xfrm>
          <a:prstGeom prst="rect"/>
        </p:spPr>
      </p:pic>
      <p:pic>
        <p:nvPicPr>
          <p:cNvPr id="2097177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821681" y="1469033"/>
            <a:ext cx="3177186" cy="3101281"/>
          </a:xfrm>
          <a:prstGeom prst="rect"/>
        </p:spPr>
      </p:pic>
      <p:pic>
        <p:nvPicPr>
          <p:cNvPr id="2097178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998867" y="1548052"/>
            <a:ext cx="2878245" cy="3164899"/>
          </a:xfrm>
          <a:prstGeom prst="rect"/>
        </p:spPr>
      </p:pic>
      <p:pic>
        <p:nvPicPr>
          <p:cNvPr id="2097179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179531" y="5159776"/>
            <a:ext cx="9129551" cy="205758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IN"/>
              <a:t>13. INSERTION INTO LMS_BOOK_ISSUE</a:t>
            </a:r>
          </a:p>
        </p:txBody>
      </p:sp>
      <p:pic>
        <p:nvPicPr>
          <p:cNvPr id="2097180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85216" y="1690688"/>
            <a:ext cx="3109229" cy="2042337"/>
          </a:xfrm>
          <a:prstGeom prst="rect"/>
        </p:spPr>
      </p:pic>
      <p:pic>
        <p:nvPicPr>
          <p:cNvPr id="2097181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766135" y="1406242"/>
            <a:ext cx="3109229" cy="2909987"/>
          </a:xfrm>
          <a:prstGeom prst="rect"/>
        </p:spPr>
      </p:pic>
      <p:pic>
        <p:nvPicPr>
          <p:cNvPr id="2097182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709377" y="1277413"/>
            <a:ext cx="3333762" cy="3167647"/>
          </a:xfrm>
          <a:prstGeom prst="rect"/>
        </p:spPr>
      </p:pic>
      <p:pic>
        <p:nvPicPr>
          <p:cNvPr id="2097183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463969" y="4829968"/>
            <a:ext cx="9579170" cy="228620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24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25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5400000" flipH="1">
            <a:off x="-1408628" y="1408629"/>
            <a:ext cx="6858000" cy="4040744"/>
          </a:xfrm>
          <a:prstGeom prst="rect"/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6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>
            <a:off x="-159565" y="2659832"/>
            <a:ext cx="4355594" cy="4040742"/>
          </a:xfrm>
          <a:prstGeom prst="rect"/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27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6200000" flipH="1">
            <a:off x="-1180882" y="1638513"/>
            <a:ext cx="6857572" cy="3581401"/>
          </a:xfrm>
          <a:prstGeom prst="rect"/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anchor="t" bIns="45720" lIns="91440" rIns="91440" rtlCol="0" tIns="45720" vert="horz">
            <a:normAutofit/>
          </a:bodyPr>
          <a:p>
            <a:r>
              <a:rPr sz="3700" lang="en-US">
                <a:solidFill>
                  <a:srgbClr val="FFFFFF"/>
                </a:solidFill>
              </a:rPr>
              <a:t>14.CHECK NO OF RECORDS IN EACH TABLE</a:t>
            </a:r>
          </a:p>
        </p:txBody>
      </p:sp>
      <p:pic>
        <p:nvPicPr>
          <p:cNvPr id="2097184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775217" y="2709704"/>
            <a:ext cx="3147413" cy="1438333"/>
          </a:xfrm>
          <a:prstGeom prst="rect"/>
        </p:spPr>
      </p:pic>
      <p:pic>
        <p:nvPicPr>
          <p:cNvPr id="2097185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266414" y="1983693"/>
            <a:ext cx="3141973" cy="2890615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0" y="0"/>
            <a:ext cx="6095969" cy="6858001"/>
          </a:xfrm>
          <a:prstGeom prst="rect"/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1162498" y="655782"/>
            <a:ext cx="4284418" cy="1480199"/>
          </a:xfrm>
        </p:spPr>
        <p:txBody>
          <a:bodyPr anchor="t" bIns="45720" lIns="91440" rIns="91440" rtlCol="0" tIns="45720" vert="horz">
            <a:normAutofit/>
          </a:bodyPr>
          <a:p>
            <a:r>
              <a:rPr lang="en-US">
                <a:solidFill>
                  <a:schemeClr val="bg1"/>
                </a:solidFill>
              </a:rPr>
              <a:t>13. VIEW ALL 20 RECORDS</a:t>
            </a:r>
          </a:p>
        </p:txBody>
      </p:sp>
      <p:sp>
        <p:nvSpPr>
          <p:cNvPr id="1048631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6096000" y="0"/>
            <a:ext cx="6095990" cy="6858001"/>
          </a:xfrm>
          <a:prstGeom prst="rect"/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2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6739838" y="643465"/>
            <a:ext cx="457200" cy="45720"/>
          </a:xfrm>
          <a:prstGeom prst="rect"/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8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739465" y="2566312"/>
            <a:ext cx="4305881" cy="1291764"/>
          </a:xfrm>
          <a:prstGeom prst="rect"/>
        </p:spPr>
      </p:pic>
      <p:pic>
        <p:nvPicPr>
          <p:cNvPr id="2097187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62499" y="3057309"/>
            <a:ext cx="4277478" cy="2364951"/>
          </a:xfrm>
          <a:prstGeom prst="rect"/>
        </p:spPr>
      </p:pic>
      <p:pic>
        <p:nvPicPr>
          <p:cNvPr id="2097188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739465" y="4589198"/>
            <a:ext cx="4305878" cy="1356351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33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34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5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6" name="Rectangle 1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7" name="Rectangle 2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600" lang="en-US">
                <a:solidFill>
                  <a:srgbClr val="FFFFFF"/>
                </a:solidFill>
              </a:rPr>
              <a:t>- QUERY 1  </a:t>
            </a:r>
            <a:br>
              <a:rPr sz="2600" lang="en-US">
                <a:solidFill>
                  <a:srgbClr val="FFFFFF"/>
                </a:solidFill>
              </a:rPr>
            </a:br>
            <a:r>
              <a:rPr sz="2600" lang="en-US">
                <a:solidFill>
                  <a:srgbClr val="FFFFFF"/>
                </a:solidFill>
              </a:rPr>
              <a:t>  DISPLAY MEMBER ID, MEMBER NAME, CITY   AND MEMBERSHIP STATUS  OF MEMBERS HAVING LIFE TIME/PERMANENT MEMBERSHIP</a:t>
            </a:r>
          </a:p>
        </p:txBody>
      </p:sp>
      <p:sp>
        <p:nvSpPr>
          <p:cNvPr id="1048639" name="Rectangle 2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89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479874"/>
            <a:ext cx="4481866" cy="2543459"/>
          </a:xfrm>
          <a:prstGeom prst="rect"/>
        </p:spPr>
      </p:pic>
      <p:pic>
        <p:nvPicPr>
          <p:cNvPr id="2097190" name="Content Placeholder 6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2836176"/>
            <a:ext cx="4486215" cy="1830697"/>
          </a:xfrm>
          <a:prstGeom prst="rect"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40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41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2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3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4" name="Rectangle 1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dirty="0" sz="2600" lang="en-US">
                <a:solidFill>
                  <a:srgbClr val="FFFFFF"/>
                </a:solidFill>
              </a:rPr>
              <a:t>-QUERY 2 </a:t>
            </a:r>
            <a:br>
              <a:rPr dirty="0" sz="2600" lang="en-US">
                <a:solidFill>
                  <a:srgbClr val="FFFFFF"/>
                </a:solidFill>
              </a:rPr>
            </a:br>
            <a:r>
              <a:rPr dirty="0" sz="2600" lang="en-US">
                <a:solidFill>
                  <a:srgbClr val="FFFFFF"/>
                </a:solidFill>
              </a:rPr>
              <a:t> DISPLAY MEMBER ID AND MEMBER NAME  WHO HAVE NOT RETURNED THE BOOKS</a:t>
            </a:r>
          </a:p>
        </p:txBody>
      </p:sp>
      <p:sp>
        <p:nvSpPr>
          <p:cNvPr id="1048646" name="Rectangle 2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91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172584" y="2133758"/>
            <a:ext cx="2900567" cy="3235692"/>
          </a:xfrm>
          <a:prstGeom prst="rect"/>
        </p:spPr>
      </p:pic>
      <p:pic>
        <p:nvPicPr>
          <p:cNvPr id="2097192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2611685"/>
            <a:ext cx="4486215" cy="2279679"/>
          </a:xfrm>
          <a:prstGeom prst="rect"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47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48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49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0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1" name="Rectangle 1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600" lang="en-US">
                <a:solidFill>
                  <a:srgbClr val="FFFFFF"/>
                </a:solidFill>
              </a:rPr>
              <a:t>-QUERY 3 </a:t>
            </a:r>
            <a:br>
              <a:rPr sz="2600" lang="en-US">
                <a:solidFill>
                  <a:srgbClr val="FFFFFF"/>
                </a:solidFill>
              </a:rPr>
            </a:br>
            <a:r>
              <a:rPr sz="2600" lang="en-US">
                <a:solidFill>
                  <a:srgbClr val="FFFFFF"/>
                </a:solidFill>
              </a:rPr>
              <a:t>DISPLAY MEMBER ID AND MEMBER NAME  WHO HAVE TAKEN BOOK CODE BL000002</a:t>
            </a:r>
          </a:p>
        </p:txBody>
      </p:sp>
      <p:sp>
        <p:nvSpPr>
          <p:cNvPr id="1048653" name="Rectangle 2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93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705836"/>
            <a:ext cx="4481866" cy="2091536"/>
          </a:xfrm>
          <a:prstGeom prst="rect"/>
        </p:spPr>
      </p:pic>
      <p:pic>
        <p:nvPicPr>
          <p:cNvPr id="2097194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2840733"/>
            <a:ext cx="4486215" cy="1821583"/>
          </a:xfrm>
          <a:prstGeom prst="rect"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54" name="Rectangle 1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55" name="Rectangle 1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6" name="Rectangle 1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7" name="Rectangle 1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8" name="Rectangle 1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600" lang="en-US">
                <a:solidFill>
                  <a:srgbClr val="FFFFFF"/>
                </a:solidFill>
              </a:rPr>
              <a:t>-QUERY 4 </a:t>
            </a:r>
            <a:br>
              <a:rPr sz="2600" lang="en-US">
                <a:solidFill>
                  <a:srgbClr val="FFFFFF"/>
                </a:solidFill>
              </a:rPr>
            </a:br>
            <a:r>
              <a:rPr sz="2600" lang="en-US">
                <a:solidFill>
                  <a:srgbClr val="FFFFFF"/>
                </a:solidFill>
              </a:rPr>
              <a:t> DISPLAY BOOK CODE, BOOK TITLE AND AUTHOR  WHOSE AUTHOR NAME BEGINS WITH 'P'</a:t>
            </a:r>
          </a:p>
        </p:txBody>
      </p:sp>
      <p:sp>
        <p:nvSpPr>
          <p:cNvPr id="1048660" name="Rectangle 21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95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654427"/>
            <a:ext cx="4481866" cy="2194354"/>
          </a:xfrm>
          <a:prstGeom prst="rect"/>
        </p:spPr>
      </p:pic>
      <p:pic>
        <p:nvPicPr>
          <p:cNvPr id="2097196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2713286"/>
            <a:ext cx="4486215" cy="2076476"/>
          </a:xfrm>
          <a:prstGeom prst="rect"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61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62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3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4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5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600" lang="en-US">
                <a:solidFill>
                  <a:srgbClr val="FFFFFF"/>
                </a:solidFill>
              </a:rPr>
              <a:t>-QUERY 5 </a:t>
            </a:r>
            <a:br>
              <a:rPr sz="2600" lang="en-US">
                <a:solidFill>
                  <a:srgbClr val="FFFFFF"/>
                </a:solidFill>
              </a:rPr>
            </a:br>
            <a:r>
              <a:rPr sz="2600" lang="en-US">
                <a:solidFill>
                  <a:srgbClr val="FFFFFF"/>
                </a:solidFill>
              </a:rPr>
              <a:t>DISPLAY TOTAL NUMBER OF JAVA BOOKS  ALIAS: NO_OF_BOOKS</a:t>
            </a:r>
          </a:p>
        </p:txBody>
      </p:sp>
      <p:sp>
        <p:nvSpPr>
          <p:cNvPr id="1048667" name="Rectangl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97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846774"/>
            <a:ext cx="4481866" cy="1809659"/>
          </a:xfrm>
          <a:prstGeom prst="rect"/>
        </p:spPr>
      </p:pic>
      <p:pic>
        <p:nvPicPr>
          <p:cNvPr id="2097198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3008022"/>
            <a:ext cx="4486215" cy="1487004"/>
          </a:xfrm>
          <a:prstGeom prst="rect"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68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69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0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1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2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600" lang="en-US">
                <a:solidFill>
                  <a:srgbClr val="FFFFFF"/>
                </a:solidFill>
              </a:rPr>
              <a:t>-QUERY 6 </a:t>
            </a:r>
            <a:br>
              <a:rPr sz="2600" lang="en-US">
                <a:solidFill>
                  <a:srgbClr val="FFFFFF"/>
                </a:solidFill>
              </a:rPr>
            </a:br>
            <a:r>
              <a:rPr sz="2600" lang="en-US">
                <a:solidFill>
                  <a:srgbClr val="FFFFFF"/>
                </a:solidFill>
              </a:rPr>
              <a:t>DISPLAY CATEGORY AND NUMBER OF BOOKS  IN EACH CATEGORY</a:t>
            </a:r>
          </a:p>
        </p:txBody>
      </p:sp>
      <p:sp>
        <p:nvSpPr>
          <p:cNvPr id="1048674" name="Rectangl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199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265235" y="2133758"/>
            <a:ext cx="2715265" cy="3235692"/>
          </a:xfrm>
          <a:prstGeom prst="rect"/>
        </p:spPr>
      </p:pic>
      <p:pic>
        <p:nvPicPr>
          <p:cNvPr id="2097200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2623005"/>
            <a:ext cx="4486215" cy="2257039"/>
          </a:xfrm>
          <a:prstGeom prst="rect"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75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76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7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8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79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600" lang="en-US">
                <a:solidFill>
                  <a:srgbClr val="FFFFFF"/>
                </a:solidFill>
              </a:rPr>
              <a:t>-QUERY 7 </a:t>
            </a:r>
            <a:br>
              <a:rPr sz="2600" lang="en-US">
                <a:solidFill>
                  <a:srgbClr val="FFFFFF"/>
                </a:solidFill>
              </a:rPr>
            </a:br>
            <a:r>
              <a:rPr sz="2600" lang="en-US">
                <a:solidFill>
                  <a:srgbClr val="FFFFFF"/>
                </a:solidFill>
              </a:rPr>
              <a:t> DISPLAY NUMBER OF BOOKS PUBLISHED BY PRENTICE HALL</a:t>
            </a:r>
          </a:p>
        </p:txBody>
      </p:sp>
      <p:sp>
        <p:nvSpPr>
          <p:cNvPr id="1048681" name="Rectangl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201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744935"/>
            <a:ext cx="4481866" cy="2013338"/>
          </a:xfrm>
          <a:prstGeom prst="rect"/>
        </p:spPr>
      </p:pic>
      <p:pic>
        <p:nvPicPr>
          <p:cNvPr id="2097202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3168210"/>
            <a:ext cx="4486215" cy="1166628"/>
          </a:xfrm>
          <a:prstGeom prst="rect"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82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83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4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5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6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600" lang="en-US">
                <a:solidFill>
                  <a:srgbClr val="FFFFFF"/>
                </a:solidFill>
              </a:rPr>
              <a:t>-QUERY 8 </a:t>
            </a:r>
            <a:br>
              <a:rPr sz="2600" lang="en-US">
                <a:solidFill>
                  <a:srgbClr val="FFFFFF"/>
                </a:solidFill>
              </a:rPr>
            </a:br>
            <a:r>
              <a:rPr sz="2600" lang="en-US">
                <a:solidFill>
                  <a:srgbClr val="FFFFFF"/>
                </a:solidFill>
              </a:rPr>
              <a:t> DISPLAY BOOK CODE AND BOOK TITLE OF BOOKS ISSUED ON 1st APRIL 2012</a:t>
            </a:r>
          </a:p>
        </p:txBody>
      </p:sp>
      <p:sp>
        <p:nvSpPr>
          <p:cNvPr id="1048688" name="Rectangl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203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674122"/>
            <a:ext cx="4481866" cy="2154963"/>
          </a:xfrm>
          <a:prstGeom prst="rect"/>
        </p:spPr>
      </p:pic>
      <p:pic>
        <p:nvPicPr>
          <p:cNvPr id="2097204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3001485"/>
            <a:ext cx="4486215" cy="1500078"/>
          </a:xfrm>
          <a:prstGeom prst="rect"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89" name="Rectangl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90" name="Rectangle 1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1" name="Rectangle 23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2" name="Rectangle 25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3" name="Rectangle 27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1900" lang="en-US">
                <a:solidFill>
                  <a:srgbClr val="FFFFFF"/>
                </a:solidFill>
              </a:rPr>
              <a:t>QUERY 9</a:t>
            </a:r>
            <a:br>
              <a:rPr sz="1900" lang="en-US">
                <a:solidFill>
                  <a:srgbClr val="FFFFFF"/>
                </a:solidFill>
              </a:rPr>
            </a:br>
            <a:r>
              <a:rPr sz="1900" lang="en-US">
                <a:solidFill>
                  <a:srgbClr val="FFFFFF"/>
                </a:solidFill>
              </a:rPr>
              <a:t> DISPLAY MEMBER ID, MEMBER NAME, DATE OF REGISTRATION  AND MEMBERSHIP STATUS OF MEMBERS REGISTERED BEFORE MARCH 2012  AND MEMBERSHIP STATUS IS TEMPORARY</a:t>
            </a:r>
          </a:p>
        </p:txBody>
      </p:sp>
      <p:sp>
        <p:nvSpPr>
          <p:cNvPr id="1048695" name="Rectangle 2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205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500598"/>
            <a:ext cx="4481866" cy="2502012"/>
          </a:xfrm>
          <a:prstGeom prst="rect"/>
        </p:spPr>
      </p:pic>
      <p:pic>
        <p:nvPicPr>
          <p:cNvPr id="209720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2708479"/>
            <a:ext cx="4486215" cy="2086090"/>
          </a:xfrm>
          <a:prstGeom prst="rect"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696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sz="2000" lang="en-US"/>
          </a:p>
        </p:txBody>
      </p:sp>
      <p:sp>
        <p:nvSpPr>
          <p:cNvPr id="1048697" name="Rectangle 9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2" y="-1500"/>
            <a:ext cx="12191998" cy="6858000"/>
          </a:xfrm>
          <a:prstGeom prst="rect"/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8" name="Rectangle 10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4635" y="-1500"/>
            <a:ext cx="8119933" cy="6858001"/>
          </a:xfrm>
          <a:prstGeom prst="rect"/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699" name="Rectangle 12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-9272" y="-3000"/>
            <a:ext cx="12201265" cy="6859501"/>
          </a:xfrm>
          <a:prstGeom prst="rect"/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00" name="Rectangle 1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flipH="1">
            <a:off x="478536" y="0"/>
            <a:ext cx="11718098" cy="6858000"/>
          </a:xfrm>
          <a:prstGeom prst="rect"/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701" name="Title 1"/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anchor="b" bIns="45720" lIns="91440" rIns="91440" rtlCol="0" tIns="45720" vert="horz">
            <a:normAutofit/>
          </a:bodyPr>
          <a:p>
            <a:pPr algn="ctr"/>
            <a:r>
              <a:rPr sz="2300" lang="en-US">
                <a:solidFill>
                  <a:srgbClr val="FFFFFF"/>
                </a:solidFill>
              </a:rPr>
              <a:t>QUERY 10 </a:t>
            </a:r>
            <a:br>
              <a:rPr sz="2300" lang="en-US">
                <a:solidFill>
                  <a:srgbClr val="FFFFFF"/>
                </a:solidFill>
              </a:rPr>
            </a:br>
            <a:r>
              <a:rPr sz="2300" lang="en-US">
                <a:solidFill>
                  <a:srgbClr val="FFFFFF"/>
                </a:solidFill>
              </a:rPr>
              <a:t>DISPLAY MEMBER ID, MEMBER NAME, DATE OF REGISTRATION  AND EXPIRY DATE  OF MEMBERS WHOSE MEMBERSHIP EXPIRES BEFORE APRIL 2013</a:t>
            </a:r>
          </a:p>
        </p:txBody>
      </p:sp>
      <p:sp>
        <p:nvSpPr>
          <p:cNvPr id="1048702" name="Rectangle 1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 rot="10800000">
            <a:off x="-4" y="2888341"/>
            <a:ext cx="12203819" cy="3968158"/>
          </a:xfrm>
          <a:prstGeom prst="rect"/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pic>
        <p:nvPicPr>
          <p:cNvPr id="2097207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381935" y="2507976"/>
            <a:ext cx="4481866" cy="2487256"/>
          </a:xfrm>
          <a:prstGeom prst="rect"/>
        </p:spPr>
      </p:pic>
      <p:pic>
        <p:nvPicPr>
          <p:cNvPr id="2097208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50724" y="2568285"/>
            <a:ext cx="4486215" cy="2366478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Kasi Yadav</dc:creator>
  <cp:lastModifiedBy>Kasi Yadav</cp:lastModifiedBy>
  <dcterms:created xsi:type="dcterms:W3CDTF">2026-09-18T02:48:37Z</dcterms:created>
  <dcterms:modified xsi:type="dcterms:W3CDTF">2026-09-19T10:14:34Z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36b4df102ccc47518c6ebaf666af061b_23</vt:lpwstr>
  </property>
</Properties>
</file>